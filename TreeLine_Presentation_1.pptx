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418320" y="640080"/>
            <a:ext cx="914400" cy="27432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640080"/>
            <a:ext cx="822960" cy="54864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914400"/>
            <a:ext cx="548640" cy="82296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9966960" y="1188720"/>
            <a:ext cx="1188720" cy="54864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1737360"/>
            <a:ext cx="1371600" cy="36576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1737360"/>
            <a:ext cx="640080" cy="91440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2286000"/>
            <a:ext cx="1280160" cy="36576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326880" y="914400"/>
            <a:ext cx="91440" cy="137160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607040" y="2103120"/>
            <a:ext cx="731520" cy="548640"/>
          </a:xfrm>
          <a:prstGeom prst="line">
            <a:avLst/>
          </a:prstGeom>
          <a:noFill/>
          <a:ln w="12700">
            <a:solidFill>
              <a:srgbClr val="2A4A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2600" y="86868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59436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09960" y="114300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4" name="Shape 12"/>
          <p:cNvSpPr/>
          <p:nvPr/>
        </p:nvSpPr>
        <p:spPr>
          <a:xfrm>
            <a:off x="9921240" y="169164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2840" y="205740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61320" y="260604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7" name="Shape 15"/>
          <p:cNvSpPr/>
          <p:nvPr/>
        </p:nvSpPr>
        <p:spPr>
          <a:xfrm>
            <a:off x="9281160" y="2240280"/>
            <a:ext cx="91440" cy="91440"/>
          </a:xfrm>
          <a:prstGeom prst="ellipse">
            <a:avLst/>
          </a:prstGeom>
          <a:solidFill>
            <a:srgbClr val="3A634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2331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TREELINE</a:t>
            </a:r>
            <a:endParaRPr lang="en-US" sz="6200" dirty="0"/>
          </a:p>
        </p:txBody>
      </p:sp>
      <p:sp>
        <p:nvSpPr>
          <p:cNvPr id="19" name="Shape 17"/>
          <p:cNvSpPr/>
          <p:nvPr/>
        </p:nvSpPr>
        <p:spPr>
          <a:xfrm>
            <a:off x="868680" y="3429000"/>
            <a:ext cx="1188720" cy="41148"/>
          </a:xfrm>
          <a:prstGeom prst="rect">
            <a:avLst/>
          </a:prstGeom>
          <a:solidFill>
            <a:srgbClr val="E2A3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611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three-pronged system for Halifax's urban forest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→  Score  →  Route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Urban Forest Master Plan  ·  City of Halifax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22960" y="640080"/>
            <a:ext cx="777240" cy="777240"/>
          </a:xfrm>
          <a:prstGeom prst="ellipse">
            <a:avLst/>
          </a:prstGeom>
          <a:solidFill>
            <a:srgbClr val="E2A33B"/>
          </a:solidFill>
          <a:ln/>
        </p:spPr>
      </p:sp>
      <p:pic>
        <p:nvPicPr>
          <p:cNvPr id="4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758952"/>
            <a:ext cx="539496" cy="5394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83080" y="62179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 still get managed one ticket at a time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D2B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2331720"/>
            <a:ext cx="384048" cy="384048"/>
          </a:xfrm>
          <a:prstGeom prst="rect">
            <a:avLst/>
          </a:prstGeom>
          <a:solidFill>
            <a:srgbClr val="E2A33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8803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by default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447288"/>
            <a:ext cx="2724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only gets attention after a resident calls it in — there's no proactive scan for risk before it becomes an emergency.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D2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2331720"/>
            <a:ext cx="384048" cy="384048"/>
          </a:xfrm>
          <a:prstGeom prst="rect">
            <a:avLst/>
          </a:prstGeom>
          <a:solidFill>
            <a:srgbClr val="5C7A5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68172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28803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priority field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681728" y="3447288"/>
            <a:ext cx="2724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Cityworks priority (1–4) doesn't account for how long a ticket has sat open, what's nearby, or how the tree is actually failing.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55280" y="196596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E0"/>
            </a:solidFill>
            <a:prstDash val="solid"/>
          </a:ln>
          <a:effectLst>
            <a:outerShdw sx="100000" sy="100000" kx="0" ky="0" algn="bl" rotWithShape="0" blurRad="127000" dist="38100" dir="5400000">
              <a:srgbClr val="1E3D2B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47888" y="2331720"/>
            <a:ext cx="384048" cy="384048"/>
          </a:xfrm>
          <a:prstGeom prst="rect">
            <a:avLst/>
          </a:prstGeom>
          <a:solidFill>
            <a:srgbClr val="2B6E7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4788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47888" y="28803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routing between sites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247888" y="3447288"/>
            <a:ext cx="2724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open “Trees” requests are worked in whatever order they arrive — not the order that gets crews there fastest.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TreeLine closes this with one pipeline: a way in for residents, a way to rank what matters, and a way to route the 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502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CE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417320" y="868680"/>
            <a:ext cx="658368" cy="658368"/>
          </a:xfrm>
          <a:prstGeom prst="ellipse">
            <a:avLst/>
          </a:prstGeom>
          <a:solidFill>
            <a:srgbClr val="5C7A5E"/>
          </a:solidFill>
          <a:ln/>
        </p:spPr>
      </p:sp>
      <p:pic>
        <p:nvPicPr>
          <p:cNvPr id="5" name="Image 0" descr="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987552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621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Reporting Tool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11338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— residents flag a tree in under a minute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048256"/>
            <a:ext cx="128016" cy="128016"/>
          </a:xfrm>
          <a:prstGeom prst="ellipse">
            <a:avLst/>
          </a:prstGeom>
          <a:solidFill>
            <a:srgbClr val="5C7A5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1892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+ GPS in one tap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5856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snaps the tree, drops a pin, and picks a condition tag (fallen limb, lean, storm damage, dead) — no account or app-store hunt required.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346704"/>
            <a:ext cx="128016" cy="128016"/>
          </a:xfrm>
          <a:prstGeom prst="ellipse">
            <a:avLst/>
          </a:prstGeom>
          <a:solidFill>
            <a:srgbClr val="5C7A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31912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merge automatically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55701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within ~2 m of an existing ticket are folded into it instead of opening a fresh case for the same tree.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645152"/>
            <a:ext cx="128016" cy="128016"/>
          </a:xfrm>
          <a:prstGeom prst="ellipse">
            <a:avLst/>
          </a:prstGeom>
          <a:solidFill>
            <a:srgbClr val="5C7A5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4897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comes back to the resident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855464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Scored → Scheduled → Done. The person who reported it can see it move, closing the loop 311 leaves open.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52360" y="1417320"/>
            <a:ext cx="3383280" cy="5074920"/>
          </a:xfrm>
          <a:prstGeom prst="roundRect">
            <a:avLst>
              <a:gd name="adj" fmla="val 7568"/>
            </a:avLst>
          </a:prstGeom>
          <a:solidFill>
            <a:srgbClr val="17241C"/>
          </a:solidFill>
          <a:ln/>
          <a:effectLst>
            <a:outerShdw sx="100000" sy="100000" kx="0" ky="0" algn="bl" rotWithShape="0" blurRad="177800" dist="63500" dir="5400000">
              <a:srgbClr val="1E3D2B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80376" y="1545336"/>
            <a:ext cx="3127248" cy="4818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808976" y="1728216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Report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08976" y="2139696"/>
            <a:ext cx="2670048" cy="1371600"/>
          </a:xfrm>
          <a:prstGeom prst="roundRect">
            <a:avLst>
              <a:gd name="adj" fmla="val 5333"/>
            </a:avLst>
          </a:prstGeom>
          <a:solidFill>
            <a:srgbClr val="E4EBE3"/>
          </a:solidFill>
          <a:ln/>
        </p:spPr>
      </p:sp>
      <p:pic>
        <p:nvPicPr>
          <p:cNvPr id="21" name="Image 1" descr="icons/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2" y="2532888"/>
            <a:ext cx="585216" cy="58521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808976" y="3630168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0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detected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808976" y="38770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Duke St. · near Duke St. Cohn School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808976" y="4288536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5C7A5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08976" y="428853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 limb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887968" y="4288536"/>
            <a:ext cx="987552" cy="365760"/>
          </a:xfrm>
          <a:prstGeom prst="roundRect">
            <a:avLst>
              <a:gd name="adj" fmla="val 50000"/>
            </a:avLst>
          </a:prstGeom>
          <a:solidFill>
            <a:srgbClr val="E4EBE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887968" y="4288536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/ risk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9966960" y="4288536"/>
            <a:ext cx="566928" cy="365760"/>
          </a:xfrm>
          <a:prstGeom prst="roundRect">
            <a:avLst>
              <a:gd name="adj" fmla="val 50000"/>
            </a:avLst>
          </a:prstGeom>
          <a:solidFill>
            <a:srgbClr val="E4EBE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9966960" y="42885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7808976" y="4882896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7808976" y="5157216"/>
            <a:ext cx="267004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E6D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918704" y="524865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limb down over the sidewalk after last night's wind.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7808976" y="5678424"/>
            <a:ext cx="2670048" cy="502920"/>
          </a:xfrm>
          <a:prstGeom prst="roundRect">
            <a:avLst>
              <a:gd name="adj" fmla="val 21818"/>
            </a:avLst>
          </a:prstGeom>
          <a:solidFill>
            <a:srgbClr val="1E3D2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7808976" y="567842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502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CE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417320" y="868680"/>
            <a:ext cx="658368" cy="658368"/>
          </a:xfrm>
          <a:prstGeom prst="ellipse">
            <a:avLst/>
          </a:prstGeom>
          <a:solidFill>
            <a:srgbClr val="1E3D2B"/>
          </a:solidFill>
          <a:ln/>
        </p:spPr>
      </p:sp>
      <p:pic>
        <p:nvPicPr>
          <p:cNvPr id="5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987552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621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Arborist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1133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judgment layer — turns four data sources into one ranked list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109728" cy="658368"/>
          </a:xfrm>
          <a:prstGeom prst="roundRect">
            <a:avLst>
              <a:gd name="adj" fmla="val 16667"/>
            </a:avLst>
          </a:prstGeom>
          <a:solidFill>
            <a:srgbClr val="1E3D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21214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2441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Cityworks 1–4 field, direct from the request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2999232"/>
            <a:ext cx="109728" cy="658368"/>
          </a:xfrm>
          <a:prstGeom prst="roundRect">
            <a:avLst>
              <a:gd name="adj" fmla="val 16667"/>
            </a:avLst>
          </a:prstGeom>
          <a:solidFill>
            <a:srgbClr val="5C7A5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2971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ticket was opened — older climbs the list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849624"/>
            <a:ext cx="109728" cy="658368"/>
          </a:xfrm>
          <a:prstGeom prst="roundRect">
            <a:avLst>
              <a:gd name="adj" fmla="val 16667"/>
            </a:avLst>
          </a:prstGeom>
          <a:solidFill>
            <a:srgbClr val="E2A3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51560" y="3822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risk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51560" y="4142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schools, sidewalks, roads, power lines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4700016"/>
            <a:ext cx="109728" cy="658368"/>
          </a:xfrm>
          <a:prstGeom prst="roundRect">
            <a:avLst>
              <a:gd name="adj" fmla="val 16667"/>
            </a:avLst>
          </a:prstGeom>
          <a:solidFill>
            <a:srgbClr val="2B6E7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51560" y="4672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4992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Species, lean, decay and storm damage from inspection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5961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 density bonus when several scored trees sit within 50–100 m of each other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214884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1E3D2B"/>
          </a:solidFill>
          <a:ln/>
          <a:effectLst>
            <a:outerShdw sx="100000" sy="100000" kx="0" ky="0" algn="bl" rotWithShape="0" blurRad="152400" dist="50800" dir="5400000">
              <a:srgbClr val="1E3D2B">
                <a:alpha val="2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76656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SCORE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3017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w</a:t>
            </a:r>
            <a:pPr indent="0" marL="0">
              <a:buNone/>
            </a:pPr>
            <a:r>
              <a:rPr lang="en-US" sz="10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700" b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w</a:t>
            </a:r>
            <a:pPr indent="0" marL="0">
              <a:buNone/>
            </a:pPr>
            <a:r>
              <a:rPr lang="en-US" sz="10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700" b="1" dirty="0">
                <a:solidFill>
                  <a:srgbClr val="E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w</a:t>
            </a:r>
            <a:pPr indent="0" marL="0">
              <a:buNone/>
            </a:pPr>
            <a:r>
              <a:rPr lang="en-US" sz="10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700" b="1" dirty="0">
                <a:solidFill>
                  <a:srgbClr val="7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pPr indent="0" marL="0">
              <a:buNone/>
            </a:pPr>
            <a:r>
              <a:rPr lang="en-US" sz="17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w</a:t>
            </a:r>
            <a:pPr indent="0" marL="0">
              <a:buNone/>
            </a:pPr>
            <a:r>
              <a:rPr lang="en-US" sz="1000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766560" y="4114800"/>
            <a:ext cx="4206240" cy="13716"/>
          </a:xfrm>
          <a:prstGeom prst="rect">
            <a:avLst/>
          </a:prstGeom>
          <a:solidFill>
            <a:srgbClr val="3F6B4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766560" y="43434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7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its own explanation — “Priority 2 + 47 days open + 30 m from a school” — so an arborist can see why, and override it.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Rescored every morning as new reports, weather, and crew feedback come in.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502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CE6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417320" y="868680"/>
            <a:ext cx="658368" cy="658368"/>
          </a:xfrm>
          <a:prstGeom prst="ellipse">
            <a:avLst/>
          </a:prstGeom>
          <a:solidFill>
            <a:srgbClr val="2B6E76"/>
          </a:solidFill>
          <a:ln/>
        </p:spPr>
      </p:sp>
      <p:pic>
        <p:nvPicPr>
          <p:cNvPr id="5" name="Image 0" descr="icons/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987552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62179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Mapping &amp; Logistics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11338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that turns a ranked list into a route a crew can actually drive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2048256"/>
            <a:ext cx="128016" cy="128016"/>
          </a:xfrm>
          <a:prstGeom prst="ellipse">
            <a:avLst/>
          </a:prstGeom>
          <a:solidFill>
            <a:srgbClr val="2B6E7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1892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Cluster, then seed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2585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trees within ~50–100 m are grouped into work packages of 8–12, each seeded by its highest-urgency tree.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" y="3218688"/>
            <a:ext cx="128016" cy="128016"/>
          </a:xfrm>
          <a:prstGeom prst="ellipse">
            <a:avLst/>
          </a:prstGeom>
          <a:solidFill>
            <a:srgbClr val="2B6E7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the route, not just the list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429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TSP pass turns each package into a drivable loop — not a list of addresses in ticket order.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389120"/>
            <a:ext cx="128016" cy="128016"/>
          </a:xfrm>
          <a:prstGeom prst="ellipse">
            <a:avLst/>
          </a:prstGeom>
          <a:solidFill>
            <a:srgbClr val="2B6E7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the circuits themselves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59943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 are ordered by total urgency, so crews always start on today's highest-priority loop first.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5532120"/>
            <a:ext cx="4709160" cy="777240"/>
          </a:xfrm>
          <a:prstGeom prst="roundRect">
            <a:avLst>
              <a:gd name="adj" fmla="val 9412"/>
            </a:avLst>
          </a:prstGeom>
          <a:solidFill>
            <a:srgbClr val="EAF0E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51560" y="55321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B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priority-seeded circuits generated for the municipality this cycle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062472" y="1517904"/>
            <a:ext cx="4700016" cy="44724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E1E8E0"/>
            </a:solidFill>
            <a:prstDash val="solid"/>
          </a:ln>
          <a:effectLst>
            <a:outerShdw sx="100000" sy="100000" kx="0" ky="0" algn="bl" rotWithShape="0" blurRad="152400" dist="50800" dir="5400000">
              <a:srgbClr val="1E3D2B">
                <a:alpha val="18000"/>
              </a:srgbClr>
            </a:outerShdw>
          </a:effectLst>
        </p:spPr>
      </p:sp>
      <p:pic>
        <p:nvPicPr>
          <p:cNvPr id="20" name="Image 1" descr="/root/.claude/uploads/a2764497-ab6d-5245-bea2-2dd07ebe6212/6ee53a3d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27632"/>
            <a:ext cx="4480560" cy="425303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062472" y="6045256"/>
            <a:ext cx="4700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output: circuits colored by seed priority and travel-distance rank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systems, a healthier canopy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98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TreeLine closes the loop the Urban Forest Master Plan needs — from a resident's phone to a crew's route, and back again.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4380" y="3063240"/>
            <a:ext cx="960120" cy="960120"/>
          </a:xfrm>
          <a:prstGeom prst="ellipse">
            <a:avLst/>
          </a:prstGeom>
          <a:solidFill>
            <a:srgbClr val="5C7A5E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3310128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88620" y="4133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14500" y="3534156"/>
            <a:ext cx="1481328" cy="9144"/>
          </a:xfrm>
          <a:prstGeom prst="line">
            <a:avLst/>
          </a:prstGeom>
          <a:noFill/>
          <a:ln w="22225">
            <a:solidFill>
              <a:srgbClr val="9FB3A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95828" y="3063240"/>
            <a:ext cx="960120" cy="960120"/>
          </a:xfrm>
          <a:prstGeom prst="ellipse">
            <a:avLst/>
          </a:prstGeom>
          <a:solidFill>
            <a:srgbClr val="3F6B4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0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3310128"/>
            <a:ext cx="466344" cy="4663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0068" y="4133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155948" y="3534156"/>
            <a:ext cx="1481328" cy="9144"/>
          </a:xfrm>
          <a:prstGeom prst="line">
            <a:avLst/>
          </a:prstGeom>
          <a:noFill/>
          <a:ln w="22225">
            <a:solidFill>
              <a:srgbClr val="9FB3A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637276" y="3063240"/>
            <a:ext cx="960120" cy="960120"/>
          </a:xfrm>
          <a:prstGeom prst="ellipse">
            <a:avLst/>
          </a:prstGeom>
          <a:solidFill>
            <a:srgbClr val="2B6E76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4" name="Image 2" descr="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3310128"/>
            <a:ext cx="466344" cy="4663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71516" y="4133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97396" y="3534156"/>
            <a:ext cx="1481328" cy="9144"/>
          </a:xfrm>
          <a:prstGeom prst="line">
            <a:avLst/>
          </a:prstGeom>
          <a:noFill/>
          <a:ln w="22225">
            <a:solidFill>
              <a:srgbClr val="9FB3A4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8078724" y="3063240"/>
            <a:ext cx="960120" cy="960120"/>
          </a:xfrm>
          <a:prstGeom prst="ellipse">
            <a:avLst/>
          </a:prstGeom>
          <a:solidFill>
            <a:srgbClr val="E2A33B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3" descr="icons/tru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5612" y="3310128"/>
            <a:ext cx="466344" cy="4663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712964" y="4133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038844" y="3534156"/>
            <a:ext cx="1481328" cy="9144"/>
          </a:xfrm>
          <a:prstGeom prst="line">
            <a:avLst/>
          </a:prstGeom>
          <a:noFill/>
          <a:ln w="22225">
            <a:solidFill>
              <a:srgbClr val="9FB3A4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10520172" y="3063240"/>
            <a:ext cx="960120" cy="960120"/>
          </a:xfrm>
          <a:prstGeom prst="ellipse">
            <a:avLst/>
          </a:prstGeom>
          <a:solidFill>
            <a:srgbClr val="5C7A5E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2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7060" y="3310128"/>
            <a:ext cx="466344" cy="4663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154412" y="413308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11000232" y="4590288"/>
            <a:ext cx="9144" cy="347472"/>
          </a:xfrm>
          <a:prstGeom prst="line">
            <a:avLst/>
          </a:prstGeom>
          <a:noFill/>
          <a:ln w="19050">
            <a:solidFill>
              <a:srgbClr val="E2A33B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1234440" y="4937760"/>
            <a:ext cx="9765792" cy="9144"/>
          </a:xfrm>
          <a:prstGeom prst="line">
            <a:avLst/>
          </a:prstGeom>
          <a:noFill/>
          <a:ln w="19050">
            <a:solidFill>
              <a:srgbClr val="E2A33B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1234440" y="4590288"/>
            <a:ext cx="9144" cy="347472"/>
          </a:xfrm>
          <a:prstGeom prst="line">
            <a:avLst/>
          </a:prstGeom>
          <a:noFill/>
          <a:ln w="19050">
            <a:solidFill>
              <a:srgbClr val="E2A33B"/>
            </a:solidFill>
            <a:prstDash val="dash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1234440" y="4992624"/>
            <a:ext cx="9765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completed work refines tomorrow's scores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throughout — arborists can always override the score or the route.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2026-09-12T17:28:51Z</dcterms:created>
  <dcterms:modified xsi:type="dcterms:W3CDTF">2026-09-12T17:28:51Z</dcterms:modified>
</cp:coreProperties>
</file>